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9144000"/>
  <p:notesSz cx="6858000" cy="9144000"/>
  <p:embeddedFontLst>
    <p:embeddedFont>
      <p:font typeface="PT Sans Narrow"/>
      <p:regular r:id="rId16"/>
      <p:bold r:id="rId17"/>
    </p:embeddedFont>
    <p:embeddedFont>
      <p:font typeface="Roboto Mono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672">
          <p15:clr>
            <a:srgbClr val="000000"/>
          </p15:clr>
        </p15:guide>
        <p15:guide id="2" orient="horz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767043-07BD-424F-868A-4DFAE84640CD}">
  <a:tblStyle styleId="{CF767043-07BD-424F-868A-4DFAE84640C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72"/>
        <p:guide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RobotoMono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TSansNarrow-bold.fntdata"/><Relationship Id="rId16" Type="http://schemas.openxmlformats.org/officeDocument/2006/relationships/font" Target="fonts/PTSansNarrow-regular.fntdata"/><Relationship Id="rId19" Type="http://schemas.openxmlformats.org/officeDocument/2006/relationships/font" Target="fonts/RobotoMono-bold.fntdata"/><Relationship Id="rId18" Type="http://schemas.openxmlformats.org/officeDocument/2006/relationships/font" Target="fonts/RobotoMon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6ad1914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c6ad19149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ee2093ed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g3bee2093ed7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ee2093ed7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bee2093ed7_1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727a47a38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c727a47a38_0_1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ee2093ed7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bee2093ed7_1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ee2093ed7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3bee2093ed7_1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ee2093ed7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g3bee2093ed7_1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6ad19149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c6ad19149e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/>
          <p:nvPr/>
        </p:nvSpPr>
        <p:spPr>
          <a:xfrm>
            <a:off x="-75" y="6727600"/>
            <a:ext cx="9144000" cy="1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hyperlink" Target="https://fastapi.tiangolo.com/es/tutorial/response-model/" TargetMode="External"/><Relationship Id="rId5" Type="http://schemas.openxmlformats.org/officeDocument/2006/relationships/hyperlink" Target="https://fastapi.tiangolo.com/es/tutorial/response-status-code/" TargetMode="External"/><Relationship Id="rId6" Type="http://schemas.openxmlformats.org/officeDocument/2006/relationships/hyperlink" Target="https://fastapi.tiangolo.com/es/tutorial/handling-errors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hyperlink" Target="https://fastapi.tiangolo.com/es/tutorial/response-model/" TargetMode="External"/><Relationship Id="rId5" Type="http://schemas.openxmlformats.org/officeDocument/2006/relationships/hyperlink" Target="https://fastapi.tiangolo.com/es/tutorial/response-status-code/" TargetMode="External"/><Relationship Id="rId6" Type="http://schemas.openxmlformats.org/officeDocument/2006/relationships/hyperlink" Target="https://fastapi.tiangolo.com/es/tutorial/handling-error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/>
        </p:nvSpPr>
        <p:spPr>
          <a:xfrm>
            <a:off x="802500" y="1886125"/>
            <a:ext cx="80322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EAEAEA"/>
                </a:solidFill>
                <a:latin typeface="Calibri"/>
                <a:ea typeface="Calibri"/>
                <a:cs typeface="Calibri"/>
                <a:sym typeface="Calibri"/>
              </a:rPr>
              <a:t>Modelo de Respuesta - Estados-Manejo de Errores</a:t>
            </a:r>
            <a:endParaRPr b="1" sz="4000">
              <a:solidFill>
                <a:srgbClr val="EAEAE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600">
              <a:solidFill>
                <a:srgbClr val="EAEAE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rgbClr val="EAEAEA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1" sz="3600">
              <a:solidFill>
                <a:srgbClr val="EAEAE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🧠 Comprender modelos de respuestas- tipo de retorno</a:t>
            </a:r>
            <a:endParaRPr b="1"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✅ Implementar modelos de respuesta con estados personalizados</a:t>
            </a:r>
            <a:endParaRPr b="1"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📦 Comprender e implementar el manejo de errores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90" name="Google Shape;9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304800"/>
            <a:ext cx="5185093" cy="1868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15"/>
          <p:cNvCxnSpPr/>
          <p:nvPr/>
        </p:nvCxnSpPr>
        <p:spPr>
          <a:xfrm flipH="1">
            <a:off x="3506485" y="1174465"/>
            <a:ext cx="1831200" cy="165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" name="Google Shape;96;p15"/>
          <p:cNvSpPr txBox="1"/>
          <p:nvPr/>
        </p:nvSpPr>
        <p:spPr>
          <a:xfrm>
            <a:off x="3490070" y="758248"/>
            <a:ext cx="18354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Respuesta HTTP</a:t>
            </a:r>
            <a:endParaRPr b="0" i="0" sz="14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5385313" y="258638"/>
            <a:ext cx="3432600" cy="1150200"/>
          </a:xfrm>
          <a:prstGeom prst="roundRect">
            <a:avLst>
              <a:gd fmla="val 16667" name="adj"/>
            </a:avLst>
          </a:prstGeom>
          <a:solidFill>
            <a:srgbClr val="0B5394"/>
          </a:solidFill>
          <a:ln cap="flat" cmpd="sng" w="38100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API REST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2875" y="720233"/>
            <a:ext cx="1342500" cy="313903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3877331" y="1076141"/>
            <a:ext cx="1305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b="1" i="0" lang="en-US" sz="2500" u="none" cap="none" strike="noStrike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JSON</a:t>
            </a:r>
            <a:r>
              <a:rPr b="1" i="0" lang="en-US" sz="3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1" i="0" sz="3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5663388" y="976688"/>
            <a:ext cx="281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</a:rPr>
              <a:t>🧠</a:t>
            </a:r>
            <a:r>
              <a:rPr b="1" lang="en-US" sz="1700">
                <a:solidFill>
                  <a:schemeClr val="lt1"/>
                </a:solidFill>
              </a:rPr>
              <a:t> Server Processing</a:t>
            </a:r>
            <a:r>
              <a:rPr lang="en-US" sz="1700">
                <a:solidFill>
                  <a:schemeClr val="lt1"/>
                </a:solidFill>
              </a:rPr>
              <a:t> </a:t>
            </a:r>
            <a:endParaRPr sz="1700"/>
          </a:p>
        </p:txBody>
      </p:sp>
      <p:sp>
        <p:nvSpPr>
          <p:cNvPr id="101" name="Google Shape;101;p15"/>
          <p:cNvSpPr txBox="1"/>
          <p:nvPr/>
        </p:nvSpPr>
        <p:spPr>
          <a:xfrm>
            <a:off x="359225" y="2126757"/>
            <a:ext cx="8552700" cy="44199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✅ response_model sirve para:</a:t>
            </a:r>
            <a:r>
              <a:rPr lang="en-US" sz="1100">
                <a:solidFill>
                  <a:schemeClr val="dk1"/>
                </a:solidFill>
              </a:rPr>
              <a:t>e para…</a:t>
            </a:r>
            <a:endParaRPr b="1" sz="2500">
              <a:solidFill>
                <a:srgbClr val="D9D2E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D9D2E9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🧪 Filtrado de datos (Seguridad)</a:t>
            </a:r>
            <a:endParaRPr b="1" sz="30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🛡️ Conversión de datos (Serialización)</a:t>
            </a:r>
            <a:endParaRPr b="1" sz="30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🧩 Documentación automática</a:t>
            </a:r>
            <a:endParaRPr b="1" sz="3000">
              <a:solidFill>
                <a:schemeClr val="lt1"/>
              </a:solidFill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414141" y="351117"/>
            <a:ext cx="3000000" cy="1493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E599"/>
                </a:solidFill>
              </a:rPr>
              <a:t>M</a:t>
            </a:r>
            <a:r>
              <a:rPr b="1" lang="en-US" sz="1700">
                <a:solidFill>
                  <a:srgbClr val="FFE599"/>
                </a:solidFill>
              </a:rPr>
              <a:t>odelo de respuesta: </a:t>
            </a:r>
            <a:r>
              <a:rPr b="1" lang="en-US" sz="1700">
                <a:solidFill>
                  <a:srgbClr val="FFE599"/>
                </a:solidFill>
              </a:rPr>
              <a:t> </a:t>
            </a:r>
            <a:r>
              <a:rPr b="1" lang="en-US" sz="1700">
                <a:solidFill>
                  <a:schemeClr val="lt1"/>
                </a:solidFill>
              </a:rPr>
              <a:t>define la estructura y el formato de los datos que el servidor envía de vuelta al cliente 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/>
        </p:nvSpPr>
        <p:spPr>
          <a:xfrm>
            <a:off x="477750" y="369850"/>
            <a:ext cx="8152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Comparativa</a:t>
            </a:r>
            <a:endParaRPr sz="1800">
              <a:solidFill>
                <a:schemeClr val="lt1"/>
              </a:solidFill>
            </a:endParaRPr>
          </a:p>
        </p:txBody>
      </p:sp>
      <p:graphicFrame>
        <p:nvGraphicFramePr>
          <p:cNvPr id="108" name="Google Shape;108;p16"/>
          <p:cNvGraphicFramePr/>
          <p:nvPr/>
        </p:nvGraphicFramePr>
        <p:xfrm>
          <a:off x="477750" y="1354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{CF767043-07BD-424F-868A-4DFAE84640CD}</a:tableStyleId>
              </a:tblPr>
              <a:tblGrid>
                <a:gridCol w="2200325"/>
                <a:gridCol w="2871725"/>
                <a:gridCol w="3296175"/>
              </a:tblGrid>
              <a:tr h="473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🧩 Característica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🧑‍💻 </a:t>
                      </a:r>
                      <a:r>
                        <a:rPr b="1" lang="en-US" sz="15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-&gt; list[Item]</a:t>
                      </a: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 (Solo tipo)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🛡️ </a:t>
                      </a:r>
                      <a:r>
                        <a:rPr b="1" lang="en-US" sz="15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response_model=...</a:t>
                      </a: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 (Parámetro)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🎯 </a:t>
                      </a:r>
                      <a:r>
                        <a:rPr b="1" lang="en-US">
                          <a:solidFill>
                            <a:schemeClr val="lt1"/>
                          </a:solidFill>
                        </a:rPr>
                        <a:t>Rol principal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Tipado para Python/IDE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Contrato de salida de FastAPI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👨‍🏫 </a:t>
                      </a:r>
                      <a:r>
                        <a:rPr b="1" lang="en-US">
                          <a:solidFill>
                            <a:schemeClr val="lt1"/>
                          </a:solidFill>
                        </a:rPr>
                        <a:t>Responsabilidad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Tú devuelves </a:t>
                      </a:r>
                      <a:r>
                        <a:rPr b="1" lang="en-US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Item</a:t>
                      </a:r>
                      <a:r>
                        <a:rPr b="1" lang="en-US">
                          <a:solidFill>
                            <a:schemeClr val="lt1"/>
                          </a:solidFill>
                        </a:rPr>
                        <a:t> (o </a:t>
                      </a:r>
                      <a:r>
                        <a:rPr b="1" lang="en-US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list[Item]</a:t>
                      </a:r>
                      <a:r>
                        <a:rPr b="1" lang="en-US">
                          <a:solidFill>
                            <a:schemeClr val="lt1"/>
                          </a:solidFill>
                        </a:rPr>
                        <a:t>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FastAPI adapta tu salida al modelo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📦 </a:t>
                      </a:r>
                      <a:r>
                        <a:rPr b="1" lang="en-US">
                          <a:solidFill>
                            <a:schemeClr val="lt1"/>
                          </a:solidFill>
                        </a:rPr>
                        <a:t>Datos admitidos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Deben ser instancias del modelo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Puede ser </a:t>
                      </a:r>
                      <a:r>
                        <a:rPr b="1" lang="en-US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dict</a:t>
                      </a:r>
                      <a:r>
                        <a:rPr b="1" lang="en-US">
                          <a:solidFill>
                            <a:schemeClr val="lt1"/>
                          </a:solidFill>
                        </a:rPr>
                        <a:t>, </a:t>
                      </a:r>
                      <a:r>
                        <a:rPr b="1" lang="en-US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list</a:t>
                      </a:r>
                      <a:r>
                        <a:rPr b="1" lang="en-US">
                          <a:solidFill>
                            <a:schemeClr val="lt1"/>
                          </a:solidFill>
                        </a:rPr>
                        <a:t> u objeto ORM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🧹 </a:t>
                      </a:r>
                      <a:r>
                        <a:rPr b="1" lang="en-US">
                          <a:solidFill>
                            <a:schemeClr val="lt1"/>
                          </a:solidFill>
                        </a:rPr>
                        <a:t>Filtrado automático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❌ No (lo haces tú)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✅ Sí (elimina campos extra)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🧪 </a:t>
                      </a:r>
                      <a:r>
                        <a:rPr b="1" lang="en-US">
                          <a:solidFill>
                            <a:schemeClr val="lt1"/>
                          </a:solidFill>
                        </a:rPr>
                        <a:t>Validación de salida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❌ No automática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✅ Sí (estructura/tipos)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🧾 </a:t>
                      </a:r>
                      <a:r>
                        <a:rPr b="1" lang="en-US">
                          <a:solidFill>
                            <a:schemeClr val="lt1"/>
                          </a:solidFill>
                        </a:rPr>
                        <a:t>OpenAPI / Swagger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⚠️ No siempre alcanza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✅ Genera schema y documentación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🧠 </a:t>
                      </a:r>
                      <a:r>
                        <a:rPr b="1" lang="en-US">
                          <a:solidFill>
                            <a:schemeClr val="lt1"/>
                          </a:solidFill>
                        </a:rPr>
                        <a:t>Soporte IDE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✅ Máximo (tipo real conocido)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⚠️ Limitado si retornas </a:t>
                      </a:r>
                      <a:r>
                        <a:rPr b="1" lang="en-US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Any</a:t>
                      </a:r>
                      <a:endParaRPr b="1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025" y="260275"/>
            <a:ext cx="6972300" cy="414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0025" y="4403650"/>
            <a:ext cx="6731006" cy="214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/>
        </p:nvSpPr>
        <p:spPr>
          <a:xfrm>
            <a:off x="477750" y="369850"/>
            <a:ext cx="8152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Excepciones </a:t>
            </a:r>
            <a:r>
              <a:rPr b="1" lang="en-US" sz="2200">
                <a:solidFill>
                  <a:schemeClr val="lt1"/>
                </a:solidFill>
              </a:rPr>
              <a:t>🧠</a:t>
            </a:r>
            <a:r>
              <a:rPr b="1" lang="en-US" sz="4000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En Python</a:t>
            </a:r>
            <a:endParaRPr b="1" sz="4000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435629" y="1287356"/>
            <a:ext cx="8152500" cy="52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Una </a:t>
            </a:r>
            <a:r>
              <a:rPr b="1" lang="en-US" sz="2400">
                <a:solidFill>
                  <a:srgbClr val="EA9999"/>
                </a:solidFill>
              </a:rPr>
              <a:t>excepción</a:t>
            </a:r>
            <a:r>
              <a:rPr b="1" lang="en-US" sz="2400">
                <a:solidFill>
                  <a:srgbClr val="D9EAD3"/>
                </a:solidFill>
              </a:rPr>
              <a:t> </a:t>
            </a:r>
            <a:r>
              <a:rPr b="1" lang="en-US" sz="2400">
                <a:solidFill>
                  <a:schemeClr val="lt1"/>
                </a:solidFill>
              </a:rPr>
              <a:t>es un mecanismo de Python para señalar que </a:t>
            </a:r>
            <a:r>
              <a:rPr b="1" lang="en-US" sz="2400">
                <a:solidFill>
                  <a:srgbClr val="D5A6BD"/>
                </a:solidFill>
              </a:rPr>
              <a:t>ocurrió una situación anómala</a:t>
            </a:r>
            <a:r>
              <a:rPr b="1" lang="en-US" sz="2400">
                <a:solidFill>
                  <a:schemeClr val="lt1"/>
                </a:solidFill>
              </a:rPr>
              <a:t> (un “error” o un caso no válido) y</a:t>
            </a:r>
            <a:r>
              <a:rPr b="1" lang="en-US" sz="2400">
                <a:solidFill>
                  <a:srgbClr val="F9CB9C"/>
                </a:solidFill>
              </a:rPr>
              <a:t> cortar el flujo normal</a:t>
            </a:r>
            <a:r>
              <a:rPr b="1" lang="en-US" sz="2400">
                <a:solidFill>
                  <a:schemeClr val="lt1"/>
                </a:solidFill>
              </a:rPr>
              <a:t> de ejecución.</a:t>
            </a:r>
            <a:endParaRPr b="1" sz="2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🧠 En Python (idea general)</a:t>
            </a:r>
            <a:endParaRPr b="1" sz="23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b="1" lang="en-US" sz="1900">
                <a:solidFill>
                  <a:schemeClr val="lt1"/>
                </a:solidFill>
              </a:rPr>
              <a:t>✅ Si todo va bien: la función sigue y eventualmente hace </a:t>
            </a: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b="1" lang="en-US" sz="1900">
                <a:solidFill>
                  <a:schemeClr val="lt1"/>
                </a:solidFill>
              </a:rPr>
              <a:t>.</a:t>
            </a:r>
            <a:br>
              <a:rPr b="1" lang="en-US" sz="1900">
                <a:solidFill>
                  <a:schemeClr val="lt1"/>
                </a:solidFill>
              </a:rPr>
            </a:br>
            <a:endParaRPr b="1"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b="1" lang="en-US" sz="1900">
                <a:solidFill>
                  <a:schemeClr val="lt1"/>
                </a:solidFill>
              </a:rPr>
              <a:t>❌ Si ocurre un problema: se lanza una excepción con </a:t>
            </a: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raise</a:t>
            </a:r>
            <a:r>
              <a:rPr b="1" lang="en-US" sz="1900">
                <a:solidFill>
                  <a:schemeClr val="lt1"/>
                </a:solidFill>
              </a:rPr>
              <a:t>.</a:t>
            </a:r>
            <a:br>
              <a:rPr b="1" lang="en-US" sz="1900">
                <a:solidFill>
                  <a:schemeClr val="lt1"/>
                </a:solidFill>
              </a:rPr>
            </a:br>
            <a:endParaRPr b="1"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b="1" lang="en-US" sz="1900">
                <a:solidFill>
                  <a:schemeClr val="lt1"/>
                </a:solidFill>
              </a:rPr>
              <a:t>🛑 Cuando se lanza, se detiene el código “normal” y Python busca quién la maneje (</a:t>
            </a: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try/except</a:t>
            </a:r>
            <a:r>
              <a:rPr b="1" lang="en-US" sz="1900">
                <a:solidFill>
                  <a:schemeClr val="lt1"/>
                </a:solidFill>
              </a:rPr>
              <a:t>).</a:t>
            </a:r>
            <a:br>
              <a:rPr b="1" lang="en-US" sz="1900">
                <a:solidFill>
                  <a:schemeClr val="lt1"/>
                </a:solidFill>
              </a:rPr>
            </a:br>
            <a:r>
              <a:rPr b="1" lang="en-US" sz="1900">
                <a:solidFill>
                  <a:schemeClr val="lt1"/>
                </a:solidFill>
              </a:rPr>
              <a:t> Si nadie la maneja, el programa (o la petición) falla.</a:t>
            </a:r>
            <a:endParaRPr b="1"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028" y="490440"/>
            <a:ext cx="8754551" cy="583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/>
        </p:nvSpPr>
        <p:spPr>
          <a:xfrm>
            <a:off x="173625" y="369850"/>
            <a:ext cx="8861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🚨 Manejo de errores con HTTPException </a:t>
            </a:r>
            <a:r>
              <a:rPr b="1" lang="en-US" sz="2100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(FastAPI)</a:t>
            </a:r>
            <a:endParaRPr b="1" sz="2100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266025" y="1170250"/>
            <a:ext cx="8553600" cy="54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1435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EA9999"/>
                </a:solidFill>
              </a:rPr>
              <a:t>🧭 Códigos 4xx:</a:t>
            </a:r>
            <a:r>
              <a:rPr b="1" lang="en-US" sz="2200">
                <a:solidFill>
                  <a:schemeClr val="lt1"/>
                </a:solidFill>
              </a:rPr>
              <a:t> se usan cuando el prob</a:t>
            </a:r>
            <a:r>
              <a:rPr b="1" lang="en-US" sz="2000">
                <a:solidFill>
                  <a:schemeClr val="lt1"/>
                </a:solidFill>
              </a:rPr>
              <a:t>lema está en la solicitud del cliente (400–499).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</a:rPr>
              <a:t>🐍 </a:t>
            </a:r>
            <a:r>
              <a:rPr b="1" lang="en-US" sz="2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HTTPException</a:t>
            </a:r>
            <a:r>
              <a:rPr b="1" lang="en-US" sz="2000">
                <a:solidFill>
                  <a:schemeClr val="lt1"/>
                </a:solidFill>
              </a:rPr>
              <a:t> es una excepción de Python:</a:t>
            </a:r>
            <a:endParaRPr b="1" sz="2000">
              <a:solidFill>
                <a:schemeClr val="lt1"/>
              </a:solidFill>
            </a:endParaRPr>
          </a:p>
          <a:p>
            <a:pPr indent="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Se lanza con </a:t>
            </a:r>
            <a:r>
              <a:rPr b="1" lang="en-US" sz="2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raise</a:t>
            </a:r>
            <a:r>
              <a:rPr b="1" lang="en-US" sz="2000">
                <a:solidFill>
                  <a:schemeClr val="lt1"/>
                </a:solidFill>
              </a:rPr>
              <a:t> (no se devuelve con </a:t>
            </a:r>
            <a:r>
              <a:rPr b="1" lang="en-US" sz="2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b="1" lang="en-US" sz="2000">
                <a:solidFill>
                  <a:schemeClr val="lt1"/>
                </a:solidFill>
              </a:rPr>
              <a:t>)</a:t>
            </a:r>
            <a:endParaRPr b="1" sz="2000">
              <a:solidFill>
                <a:schemeClr val="lt1"/>
              </a:solidFill>
            </a:endParaRPr>
          </a:p>
          <a:p>
            <a:pPr indent="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🛑 detiene la ejecución del endpoint y responde inmediatamente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</a:rPr>
              <a:t>📦 Incluye datos para APIs:</a:t>
            </a:r>
            <a:endParaRPr b="1" sz="2000">
              <a:solidFill>
                <a:schemeClr val="lt1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🔢 </a:t>
            </a:r>
            <a:r>
              <a:rPr b="1" lang="en-US" sz="2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status_code</a:t>
            </a:r>
            <a:r>
              <a:rPr b="1" lang="en-US" sz="2000">
                <a:solidFill>
                  <a:schemeClr val="lt1"/>
                </a:solidFill>
              </a:rPr>
              <a:t> (ej. </a:t>
            </a:r>
            <a:r>
              <a:rPr b="1" lang="en-US" sz="2000">
                <a:solidFill>
                  <a:srgbClr val="EA9999"/>
                </a:solidFill>
              </a:rPr>
              <a:t>404</a:t>
            </a:r>
            <a:r>
              <a:rPr b="1" lang="en-US" sz="2000">
                <a:solidFill>
                  <a:schemeClr val="lt1"/>
                </a:solidFill>
              </a:rPr>
              <a:t>)     📝 </a:t>
            </a:r>
            <a:r>
              <a:rPr b="1" lang="en-US" sz="2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detail</a:t>
            </a:r>
            <a:r>
              <a:rPr b="1" lang="en-US" sz="2000">
                <a:solidFill>
                  <a:schemeClr val="lt1"/>
                </a:solidFill>
              </a:rPr>
              <a:t> (mensaje para el cliente)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📤 Respuesta estándar en JSON:</a:t>
            </a:r>
            <a:endParaRPr b="1" sz="2000">
              <a:solidFill>
                <a:schemeClr val="lt1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✅ si existe → </a:t>
            </a:r>
            <a:r>
              <a:rPr b="1" lang="en-US" sz="2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200</a:t>
            </a:r>
            <a:r>
              <a:rPr b="1" lang="en-US" sz="2000">
                <a:solidFill>
                  <a:schemeClr val="lt1"/>
                </a:solidFill>
              </a:rPr>
              <a:t> con </a:t>
            </a:r>
            <a:r>
              <a:rPr b="1" lang="en-US" sz="2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{ "item": ... }    </a:t>
            </a:r>
            <a:r>
              <a:rPr b="1" lang="en-US" sz="2000">
                <a:solidFill>
                  <a:schemeClr val="lt1"/>
                </a:solidFill>
              </a:rPr>
              <a:t>❌ si no existe → </a:t>
            </a:r>
            <a:r>
              <a:rPr b="1" lang="en-US" sz="2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404</a:t>
            </a:r>
            <a:r>
              <a:rPr b="1" lang="en-US" sz="2000">
                <a:solidFill>
                  <a:schemeClr val="lt1"/>
                </a:solidFill>
              </a:rPr>
              <a:t> con </a:t>
            </a:r>
            <a:r>
              <a:rPr b="1" lang="en-US" sz="2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{ "detail": "Item not found" }</a:t>
            </a:r>
            <a:endParaRPr b="1" sz="2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/>
        </p:nvSpPr>
        <p:spPr>
          <a:xfrm>
            <a:off x="376675" y="337700"/>
            <a:ext cx="8430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EAEAEA"/>
                </a:solidFill>
                <a:latin typeface="Calibri"/>
                <a:ea typeface="Calibri"/>
                <a:cs typeface="Calibri"/>
                <a:sym typeface="Calibri"/>
              </a:rPr>
              <a:t>Estudiar los Tutoriales</a:t>
            </a:r>
            <a:endParaRPr b="1" sz="4000">
              <a:solidFill>
                <a:srgbClr val="EAEAE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150" y="1045700"/>
            <a:ext cx="1338075" cy="133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/>
        </p:nvSpPr>
        <p:spPr>
          <a:xfrm>
            <a:off x="1636375" y="2538550"/>
            <a:ext cx="71703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</a:rPr>
              <a:t>Modelo de respuesta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rgbClr val="A4C2F4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https://fastapi.tiangolo.com/es/tutorial/response-model/</a:t>
            </a:r>
            <a:endParaRPr b="1" sz="2100">
              <a:solidFill>
                <a:srgbClr val="A4C2F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</a:rPr>
              <a:t>Codigo de Estados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sng">
                <a:solidFill>
                  <a:srgbClr val="9FC5E8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https://fastapi.tiangolo.com/es/tutorial/response-status-code/</a:t>
            </a:r>
            <a:endParaRPr b="1" sz="1700">
              <a:solidFill>
                <a:srgbClr val="9FC5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</a:rPr>
              <a:t>Manejo de Errores</a:t>
            </a:r>
            <a:endParaRPr b="1" sz="1700">
              <a:solidFill>
                <a:srgbClr val="9FC5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sng">
                <a:solidFill>
                  <a:srgbClr val="6FA8DC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https://fastapi.tiangolo.com/es/tutorial/handling-errors/</a:t>
            </a:r>
            <a:endParaRPr b="1" sz="1700">
              <a:solidFill>
                <a:srgbClr val="6FA8D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9FC5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A4C2F4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/>
        </p:nvSpPr>
        <p:spPr>
          <a:xfrm>
            <a:off x="410075" y="427550"/>
            <a:ext cx="5757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EAEAEA"/>
                </a:solidFill>
                <a:latin typeface="Calibri"/>
                <a:ea typeface="Calibri"/>
                <a:cs typeface="Calibri"/>
                <a:sym typeface="Calibri"/>
              </a:rPr>
              <a:t>🏁 Resumen y Recursos</a:t>
            </a:r>
            <a:endParaRPr b="1" i="0" sz="4000" u="none" cap="none" strike="noStrike">
              <a:solidFill>
                <a:srgbClr val="EAEAE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080" y="5758923"/>
            <a:ext cx="169545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/>
          <p:nvPr/>
        </p:nvSpPr>
        <p:spPr>
          <a:xfrm>
            <a:off x="394664" y="1590293"/>
            <a:ext cx="85017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rgbClr val="A4C2F4"/>
                </a:solidFill>
              </a:rPr>
              <a:t>🧩 Modelo de respuesta (</a:t>
            </a:r>
            <a:r>
              <a:rPr b="1" lang="en-US" sz="1700">
                <a:solidFill>
                  <a:srgbClr val="A4C2F4"/>
                </a:solidFill>
                <a:latin typeface="Roboto Mono"/>
                <a:ea typeface="Roboto Mono"/>
                <a:cs typeface="Roboto Mono"/>
                <a:sym typeface="Roboto Mono"/>
              </a:rPr>
              <a:t>response_model</a:t>
            </a:r>
            <a:r>
              <a:rPr b="1" lang="en-US" sz="1700">
                <a:solidFill>
                  <a:srgbClr val="A4C2F4"/>
                </a:solidFill>
              </a:rPr>
              <a:t>): </a:t>
            </a:r>
            <a:r>
              <a:rPr b="1" lang="en-US" sz="1700">
                <a:solidFill>
                  <a:schemeClr val="lt1"/>
                </a:solidFill>
              </a:rPr>
              <a:t>define el contrato de salida de la API → valida, documenta (OpenAPI/JSON Schema) y filtra la respuesta para exponer solo los campos permitidos (seguridad y consistencia).</a:t>
            </a:r>
            <a:br>
              <a:rPr b="1" lang="en-US" sz="1700">
                <a:solidFill>
                  <a:schemeClr val="lt1"/>
                </a:solidFill>
              </a:rPr>
            </a:br>
            <a:br>
              <a:rPr b="1" lang="en-US" sz="1700">
                <a:solidFill>
                  <a:schemeClr val="lt1"/>
                </a:solidFill>
              </a:rPr>
            </a:b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rgbClr val="FFE599"/>
                </a:solidFill>
              </a:rPr>
              <a:t>🔢 Códigos de estado HTTP: </a:t>
            </a:r>
            <a:r>
              <a:rPr b="1" lang="en-US" sz="1700">
                <a:solidFill>
                  <a:schemeClr val="lt1"/>
                </a:solidFill>
              </a:rPr>
              <a:t>comunican el resultado de la operación → 2xx (éxito) y 4xx (errores por solicitud del cliente, p. ej. recurso inexistente o falta de permisos).</a:t>
            </a:r>
            <a:br>
              <a:rPr b="1" lang="en-US" sz="1700">
                <a:solidFill>
                  <a:schemeClr val="lt1"/>
                </a:solidFill>
              </a:rPr>
            </a:br>
            <a:br>
              <a:rPr b="1" lang="en-US" sz="1700">
                <a:solidFill>
                  <a:schemeClr val="lt1"/>
                </a:solidFill>
              </a:rPr>
            </a:b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B6D7A8"/>
                </a:solidFill>
              </a:rPr>
              <a:t>🚨 Manejo de errores (</a:t>
            </a:r>
            <a:r>
              <a:rPr b="1" lang="en-US" sz="1700">
                <a:solidFill>
                  <a:srgbClr val="B6D7A8"/>
                </a:solidFill>
                <a:latin typeface="Roboto Mono"/>
                <a:ea typeface="Roboto Mono"/>
                <a:cs typeface="Roboto Mono"/>
                <a:sym typeface="Roboto Mono"/>
              </a:rPr>
              <a:t>HTTPException</a:t>
            </a:r>
            <a:r>
              <a:rPr b="1" lang="en-US" sz="1700">
                <a:solidFill>
                  <a:srgbClr val="B6D7A8"/>
                </a:solidFill>
              </a:rPr>
              <a:t>): </a:t>
            </a:r>
            <a:r>
              <a:rPr b="1" lang="en-US" sz="1700">
                <a:solidFill>
                  <a:schemeClr val="lt1"/>
                </a:solidFill>
              </a:rPr>
              <a:t>se usa para devolver errores controlados → se lanza con </a:t>
            </a:r>
            <a:r>
              <a:rPr b="1"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raise</a:t>
            </a:r>
            <a:r>
              <a:rPr b="1" lang="en-US" sz="1700">
                <a:solidFill>
                  <a:schemeClr val="lt1"/>
                </a:solidFill>
              </a:rPr>
              <a:t>, corta el flujo y retorna </a:t>
            </a:r>
            <a:r>
              <a:rPr b="1"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{ "detail": ... }</a:t>
            </a:r>
            <a:r>
              <a:rPr b="1" lang="en-US" sz="1700">
                <a:solidFill>
                  <a:schemeClr val="lt1"/>
                </a:solidFill>
              </a:rPr>
              <a:t> con el </a:t>
            </a:r>
            <a:r>
              <a:rPr b="1"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status_code</a:t>
            </a:r>
            <a:r>
              <a:rPr b="1" lang="en-US" sz="1700">
                <a:solidFill>
                  <a:schemeClr val="lt1"/>
                </a:solidFill>
              </a:rPr>
              <a:t> correspondiente (ej. 404).</a:t>
            </a:r>
            <a:endParaRPr b="1" sz="2100">
              <a:solidFill>
                <a:schemeClr val="lt1"/>
              </a:solidFill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2321282" y="5668525"/>
            <a:ext cx="6507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rgbClr val="A4C2F4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https://fastapi.tiangolo.com/es/tutorial/response-model/</a:t>
            </a:r>
            <a:endParaRPr b="1" sz="2100">
              <a:solidFill>
                <a:srgbClr val="A4C2F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sng">
                <a:solidFill>
                  <a:srgbClr val="9FC5E8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https://fastapi.tiangolo.com/es/tutorial/response-status-code/</a:t>
            </a:r>
            <a:endParaRPr b="1" sz="2100">
              <a:solidFill>
                <a:srgbClr val="A4C2F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sng">
                <a:solidFill>
                  <a:srgbClr val="9FC5E8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https://fastapi.tiangolo.com/es/tutorial/handling-errors/</a:t>
            </a:r>
            <a:endParaRPr b="1" sz="1300">
              <a:solidFill>
                <a:srgbClr val="9FC5E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